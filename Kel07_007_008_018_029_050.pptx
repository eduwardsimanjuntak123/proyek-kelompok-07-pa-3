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ITC Franklin Gothic LT Semi-Bold" charset="1" panose="020B0704030502020204"/>
      <p:regular r:id="rId19"/>
    </p:embeddedFont>
    <p:embeddedFont>
      <p:font typeface="Aileron" charset="1" panose="00000500000000000000"/>
      <p:regular r:id="rId20"/>
    </p:embeddedFont>
    <p:embeddedFont>
      <p:font typeface="Aileron Bold" charset="1" panose="00000800000000000000"/>
      <p:regular r:id="rId21"/>
    </p:embeddedFont>
    <p:embeddedFont>
      <p:font typeface="Poppins Bold" charset="1" panose="000008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4463" y="8960529"/>
            <a:ext cx="6454650" cy="856961"/>
            <a:chOff x="0" y="0"/>
            <a:chExt cx="560315" cy="743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0315" cy="74391"/>
            </a:xfrm>
            <a:custGeom>
              <a:avLst/>
              <a:gdLst/>
              <a:ahLst/>
              <a:cxnLst/>
              <a:rect r="r" b="b" t="t" l="l"/>
              <a:pathLst>
                <a:path h="74391" w="560315">
                  <a:moveTo>
                    <a:pt x="37195" y="0"/>
                  </a:moveTo>
                  <a:lnTo>
                    <a:pt x="523119" y="0"/>
                  </a:lnTo>
                  <a:cubicBezTo>
                    <a:pt x="532984" y="0"/>
                    <a:pt x="542445" y="3919"/>
                    <a:pt x="549421" y="10894"/>
                  </a:cubicBezTo>
                  <a:cubicBezTo>
                    <a:pt x="556396" y="17870"/>
                    <a:pt x="560315" y="27331"/>
                    <a:pt x="560315" y="37195"/>
                  </a:cubicBezTo>
                  <a:lnTo>
                    <a:pt x="560315" y="37195"/>
                  </a:lnTo>
                  <a:cubicBezTo>
                    <a:pt x="560315" y="47060"/>
                    <a:pt x="556396" y="56521"/>
                    <a:pt x="549421" y="63497"/>
                  </a:cubicBezTo>
                  <a:cubicBezTo>
                    <a:pt x="542445" y="70472"/>
                    <a:pt x="532984" y="74391"/>
                    <a:pt x="523119" y="74391"/>
                  </a:cubicBezTo>
                  <a:lnTo>
                    <a:pt x="37195" y="74391"/>
                  </a:lnTo>
                  <a:cubicBezTo>
                    <a:pt x="27331" y="74391"/>
                    <a:pt x="17870" y="70472"/>
                    <a:pt x="10894" y="63497"/>
                  </a:cubicBezTo>
                  <a:cubicBezTo>
                    <a:pt x="3919" y="56521"/>
                    <a:pt x="0" y="47060"/>
                    <a:pt x="0" y="37195"/>
                  </a:cubicBezTo>
                  <a:lnTo>
                    <a:pt x="0" y="37195"/>
                  </a:lnTo>
                  <a:cubicBezTo>
                    <a:pt x="0" y="27331"/>
                    <a:pt x="3919" y="17870"/>
                    <a:pt x="10894" y="10894"/>
                  </a:cubicBezTo>
                  <a:cubicBezTo>
                    <a:pt x="17870" y="3919"/>
                    <a:pt x="27331" y="0"/>
                    <a:pt x="37195" y="0"/>
                  </a:cubicBezTo>
                  <a:close/>
                </a:path>
              </a:pathLst>
            </a:custGeom>
            <a:solidFill>
              <a:srgbClr val="00447B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60315" cy="122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01501" y="5853131"/>
            <a:ext cx="7162599" cy="2139827"/>
          </a:xfrm>
          <a:custGeom>
            <a:avLst/>
            <a:gdLst/>
            <a:ahLst/>
            <a:cxnLst/>
            <a:rect r="r" b="b" t="t" l="l"/>
            <a:pathLst>
              <a:path h="2139827" w="7162599">
                <a:moveTo>
                  <a:pt x="0" y="0"/>
                </a:moveTo>
                <a:lnTo>
                  <a:pt x="7162599" y="0"/>
                </a:lnTo>
                <a:lnTo>
                  <a:pt x="7162599" y="2139827"/>
                </a:lnTo>
                <a:lnTo>
                  <a:pt x="0" y="213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44476" y="2037947"/>
            <a:ext cx="12637916" cy="3047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sz="4733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</a:t>
            </a:r>
            <a:r>
              <a:rPr lang="en-US" b="true" sz="4733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EVELOPMENT OF AN AGENT-BASED SYSTEM BASED ON A LARGE LANGUAGE MODEL FOR AUTOMATION OF FINAL PROJECT ADMINISTRATION FOR STUDENTS OF THE DEL INSTITUTE OF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9242" y="5677652"/>
            <a:ext cx="11802436" cy="308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11423007  Jonathan Raphael Sinaga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11423008  Ferdianty Mariany Panjaitan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11423018  Eduward Gilbert Simanjuntak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 spc="-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11423029  Natasya Hutapea</a:t>
            </a:r>
          </a:p>
          <a:p>
            <a:pPr algn="l" marL="755651" indent="-377825" lvl="1">
              <a:lnSpc>
                <a:spcPts val="4900"/>
              </a:lnSpc>
              <a:spcBef>
                <a:spcPct val="0"/>
              </a:spcBef>
              <a:buFont typeface="Arial"/>
              <a:buChar char="•"/>
            </a:pPr>
            <a:r>
              <a:rPr lang="en-US" sz="3500" spc="-105">
                <a:solidFill>
                  <a:srgbClr val="000000"/>
                </a:solidFill>
                <a:latin typeface="Aileron"/>
                <a:ea typeface="Aileron"/>
                <a:cs typeface="Aileron"/>
                <a:sym typeface="Aileron"/>
              </a:rPr>
              <a:t>11423050  Boas Rayhan Turnip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4639" y="9093805"/>
            <a:ext cx="5319674" cy="523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7"/>
              </a:lnSpc>
              <a:spcBef>
                <a:spcPct val="0"/>
              </a:spcBef>
            </a:pPr>
            <a:r>
              <a:rPr lang="en-US" b="true" sz="3005" spc="-9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Third Final Project - Group 07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68564" y="-342151"/>
            <a:ext cx="10889068" cy="11059570"/>
            <a:chOff x="0" y="0"/>
            <a:chExt cx="2240549" cy="2275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0549" cy="2275632"/>
            </a:xfrm>
            <a:custGeom>
              <a:avLst/>
              <a:gdLst/>
              <a:ahLst/>
              <a:cxnLst/>
              <a:rect r="r" b="b" t="t" l="l"/>
              <a:pathLst>
                <a:path h="2275632" w="2240549">
                  <a:moveTo>
                    <a:pt x="0" y="0"/>
                  </a:moveTo>
                  <a:lnTo>
                    <a:pt x="2240549" y="0"/>
                  </a:lnTo>
                  <a:lnTo>
                    <a:pt x="2240549" y="2275632"/>
                  </a:lnTo>
                  <a:lnTo>
                    <a:pt x="0" y="2275632"/>
                  </a:lnTo>
                  <a:close/>
                </a:path>
              </a:pathLst>
            </a:custGeom>
            <a:solidFill>
              <a:srgbClr val="0066B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240549" cy="2323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641964" y="277758"/>
            <a:ext cx="6955560" cy="956877"/>
            <a:chOff x="0" y="0"/>
            <a:chExt cx="9274080" cy="127583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9274080" cy="1275836"/>
              <a:chOff x="0" y="0"/>
              <a:chExt cx="1757099" cy="24172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757099" cy="241724"/>
              </a:xfrm>
              <a:custGeom>
                <a:avLst/>
                <a:gdLst/>
                <a:ahLst/>
                <a:cxnLst/>
                <a:rect r="r" b="b" t="t" l="l"/>
                <a:pathLst>
                  <a:path h="241724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196506"/>
                    </a:lnTo>
                    <a:cubicBezTo>
                      <a:pt x="1757099" y="221479"/>
                      <a:pt x="1736854" y="241724"/>
                      <a:pt x="1711881" y="241724"/>
                    </a:cubicBezTo>
                    <a:lnTo>
                      <a:pt x="45218" y="241724"/>
                    </a:lnTo>
                    <a:cubicBezTo>
                      <a:pt x="20245" y="241724"/>
                      <a:pt x="0" y="221479"/>
                      <a:pt x="0" y="196506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1757099" cy="289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</a:t>
              </a:r>
              <a:r>
                <a:rPr lang="en-US" b="true" sz="3348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47968" y="237808"/>
              <a:ext cx="3710284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Introduction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641964" y="1580014"/>
            <a:ext cx="6955560" cy="956877"/>
            <a:chOff x="0" y="0"/>
            <a:chExt cx="9274080" cy="127583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274080" cy="1275836"/>
              <a:chOff x="0" y="0"/>
              <a:chExt cx="1757099" cy="24172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757099" cy="241724"/>
              </a:xfrm>
              <a:custGeom>
                <a:avLst/>
                <a:gdLst/>
                <a:ahLst/>
                <a:cxnLst/>
                <a:rect r="r" b="b" t="t" l="l"/>
                <a:pathLst>
                  <a:path h="241724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196506"/>
                    </a:lnTo>
                    <a:cubicBezTo>
                      <a:pt x="1757099" y="221479"/>
                      <a:pt x="1736854" y="241724"/>
                      <a:pt x="1711881" y="241724"/>
                    </a:cubicBezTo>
                    <a:lnTo>
                      <a:pt x="45218" y="241724"/>
                    </a:lnTo>
                    <a:cubicBezTo>
                      <a:pt x="20245" y="241724"/>
                      <a:pt x="0" y="221479"/>
                      <a:pt x="0" y="196506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1757099" cy="289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02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747968" y="237808"/>
              <a:ext cx="7526112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Project Goals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41964" y="2879790"/>
            <a:ext cx="6955560" cy="956877"/>
            <a:chOff x="0" y="0"/>
            <a:chExt cx="9274080" cy="1275836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9274080" cy="1275836"/>
              <a:chOff x="0" y="0"/>
              <a:chExt cx="1757099" cy="241724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757099" cy="241724"/>
              </a:xfrm>
              <a:custGeom>
                <a:avLst/>
                <a:gdLst/>
                <a:ahLst/>
                <a:cxnLst/>
                <a:rect r="r" b="b" t="t" l="l"/>
                <a:pathLst>
                  <a:path h="241724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196506"/>
                    </a:lnTo>
                    <a:cubicBezTo>
                      <a:pt x="1757099" y="221479"/>
                      <a:pt x="1736854" y="241724"/>
                      <a:pt x="1711881" y="241724"/>
                    </a:cubicBezTo>
                    <a:lnTo>
                      <a:pt x="45218" y="241724"/>
                    </a:lnTo>
                    <a:cubicBezTo>
                      <a:pt x="20245" y="241724"/>
                      <a:pt x="0" y="221479"/>
                      <a:pt x="0" y="196506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1757099" cy="289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03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747968" y="312337"/>
              <a:ext cx="3710284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Analysis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641964" y="5661415"/>
            <a:ext cx="6955560" cy="1041702"/>
            <a:chOff x="0" y="0"/>
            <a:chExt cx="9274080" cy="1388936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274080" cy="1388936"/>
              <a:chOff x="0" y="0"/>
              <a:chExt cx="1757099" cy="26315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757099" cy="263153"/>
              </a:xfrm>
              <a:custGeom>
                <a:avLst/>
                <a:gdLst/>
                <a:ahLst/>
                <a:cxnLst/>
                <a:rect r="r" b="b" t="t" l="l"/>
                <a:pathLst>
                  <a:path h="263153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217935"/>
                    </a:lnTo>
                    <a:cubicBezTo>
                      <a:pt x="1757099" y="242908"/>
                      <a:pt x="1736854" y="263153"/>
                      <a:pt x="1711881" y="263153"/>
                    </a:cubicBezTo>
                    <a:lnTo>
                      <a:pt x="45218" y="263153"/>
                    </a:lnTo>
                    <a:cubicBezTo>
                      <a:pt x="20245" y="263153"/>
                      <a:pt x="0" y="242908"/>
                      <a:pt x="0" y="217935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1757099" cy="310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05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747968" y="231775"/>
              <a:ext cx="6663814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Implementation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641964" y="7093642"/>
            <a:ext cx="6955560" cy="956877"/>
            <a:chOff x="0" y="0"/>
            <a:chExt cx="9274080" cy="1275836"/>
          </a:xfrm>
        </p:grpSpPr>
        <p:grpSp>
          <p:nvGrpSpPr>
            <p:cNvPr name="Group 42" id="42"/>
            <p:cNvGrpSpPr/>
            <p:nvPr/>
          </p:nvGrpSpPr>
          <p:grpSpPr>
            <a:xfrm rot="0">
              <a:off x="0" y="0"/>
              <a:ext cx="9274080" cy="1275836"/>
              <a:chOff x="0" y="0"/>
              <a:chExt cx="1757099" cy="241724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757099" cy="241724"/>
              </a:xfrm>
              <a:custGeom>
                <a:avLst/>
                <a:gdLst/>
                <a:ahLst/>
                <a:cxnLst/>
                <a:rect r="r" b="b" t="t" l="l"/>
                <a:pathLst>
                  <a:path h="241724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196506"/>
                    </a:lnTo>
                    <a:cubicBezTo>
                      <a:pt x="1757099" y="221479"/>
                      <a:pt x="1736854" y="241724"/>
                      <a:pt x="1711881" y="241724"/>
                    </a:cubicBezTo>
                    <a:lnTo>
                      <a:pt x="45218" y="241724"/>
                    </a:lnTo>
                    <a:cubicBezTo>
                      <a:pt x="20245" y="241724"/>
                      <a:pt x="0" y="221479"/>
                      <a:pt x="0" y="196506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757099" cy="289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06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747968" y="282575"/>
              <a:ext cx="5627611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Product Backlog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509528" y="4248239"/>
            <a:ext cx="6744902" cy="180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90"/>
              </a:lnSpc>
            </a:pPr>
            <a:r>
              <a:rPr lang="en-US" sz="12031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OUT LINE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641964" y="8441044"/>
            <a:ext cx="6955560" cy="956877"/>
            <a:chOff x="0" y="0"/>
            <a:chExt cx="9274080" cy="1275836"/>
          </a:xfrm>
        </p:grpSpPr>
        <p:grpSp>
          <p:nvGrpSpPr>
            <p:cNvPr name="Group 54" id="54"/>
            <p:cNvGrpSpPr/>
            <p:nvPr/>
          </p:nvGrpSpPr>
          <p:grpSpPr>
            <a:xfrm rot="0">
              <a:off x="0" y="0"/>
              <a:ext cx="9274080" cy="1275836"/>
              <a:chOff x="0" y="0"/>
              <a:chExt cx="1757099" cy="24172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757099" cy="241724"/>
              </a:xfrm>
              <a:custGeom>
                <a:avLst/>
                <a:gdLst/>
                <a:ahLst/>
                <a:cxnLst/>
                <a:rect r="r" b="b" t="t" l="l"/>
                <a:pathLst>
                  <a:path h="241724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196506"/>
                    </a:lnTo>
                    <a:cubicBezTo>
                      <a:pt x="1757099" y="221479"/>
                      <a:pt x="1736854" y="241724"/>
                      <a:pt x="1711881" y="241724"/>
                    </a:cubicBezTo>
                    <a:lnTo>
                      <a:pt x="45218" y="241724"/>
                    </a:lnTo>
                    <a:cubicBezTo>
                      <a:pt x="20245" y="241724"/>
                      <a:pt x="0" y="221479"/>
                      <a:pt x="0" y="196506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47625"/>
                <a:ext cx="1757099" cy="28934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57" id="57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60" id="60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07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1747968" y="237808"/>
              <a:ext cx="3710284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Demo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641964" y="4229189"/>
            <a:ext cx="6955560" cy="1041702"/>
            <a:chOff x="0" y="0"/>
            <a:chExt cx="9274080" cy="1388936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9274080" cy="1388936"/>
              <a:chOff x="0" y="0"/>
              <a:chExt cx="1757099" cy="263153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1757099" cy="263153"/>
              </a:xfrm>
              <a:custGeom>
                <a:avLst/>
                <a:gdLst/>
                <a:ahLst/>
                <a:cxnLst/>
                <a:rect r="r" b="b" t="t" l="l"/>
                <a:pathLst>
                  <a:path h="263153" w="1757099">
                    <a:moveTo>
                      <a:pt x="45218" y="0"/>
                    </a:moveTo>
                    <a:lnTo>
                      <a:pt x="1711881" y="0"/>
                    </a:lnTo>
                    <a:cubicBezTo>
                      <a:pt x="1723874" y="0"/>
                      <a:pt x="1735375" y="4764"/>
                      <a:pt x="1743855" y="13244"/>
                    </a:cubicBezTo>
                    <a:cubicBezTo>
                      <a:pt x="1752335" y="21724"/>
                      <a:pt x="1757099" y="33225"/>
                      <a:pt x="1757099" y="45218"/>
                    </a:cubicBezTo>
                    <a:lnTo>
                      <a:pt x="1757099" y="217935"/>
                    </a:lnTo>
                    <a:cubicBezTo>
                      <a:pt x="1757099" y="242908"/>
                      <a:pt x="1736854" y="263153"/>
                      <a:pt x="1711881" y="263153"/>
                    </a:cubicBezTo>
                    <a:lnTo>
                      <a:pt x="45218" y="263153"/>
                    </a:lnTo>
                    <a:cubicBezTo>
                      <a:pt x="20245" y="263153"/>
                      <a:pt x="0" y="242908"/>
                      <a:pt x="0" y="217935"/>
                    </a:cubicBezTo>
                    <a:lnTo>
                      <a:pt x="0" y="45218"/>
                    </a:lnTo>
                    <a:cubicBezTo>
                      <a:pt x="0" y="20245"/>
                      <a:pt x="20245" y="0"/>
                      <a:pt x="45218" y="0"/>
                    </a:cubicBezTo>
                    <a:close/>
                  </a:path>
                </a:pathLst>
              </a:custGeom>
              <a:solidFill>
                <a:srgbClr val="00447B"/>
              </a:solid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1757099" cy="3107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grpSp>
          <p:nvGrpSpPr>
            <p:cNvPr name="Group 66" id="66"/>
            <p:cNvGrpSpPr/>
            <p:nvPr/>
          </p:nvGrpSpPr>
          <p:grpSpPr>
            <a:xfrm rot="0">
              <a:off x="138696" y="76129"/>
              <a:ext cx="1123577" cy="1123577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E8E8E8">
                      <a:alpha val="1000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54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138696" y="234663"/>
              <a:ext cx="1123577" cy="7398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87"/>
                </a:lnSpc>
              </a:pPr>
              <a:r>
                <a:rPr lang="en-US" sz="3348" b="tru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04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1747968" y="231775"/>
              <a:ext cx="6663814" cy="7906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37"/>
                </a:lnSpc>
              </a:pPr>
              <a:r>
                <a:rPr lang="en-US" sz="3864" spc="-115" b="true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Methodology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07810" y="641438"/>
            <a:ext cx="7672380" cy="12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8"/>
              </a:lnSpc>
            </a:pPr>
            <a:r>
              <a:rPr lang="en-US" sz="8600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INTRODUCTION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99242" y="1843747"/>
            <a:ext cx="16325757" cy="7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2072" indent="-391036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processes of stud</a:t>
            </a:r>
            <a:r>
              <a:rPr lang="en-US" b="true" sz="36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ent group formation, supervisor/examiner assignment, and seminar scheduling in VokasiTera are still performed manually by the Final Project Coordinator.</a:t>
            </a:r>
          </a:p>
          <a:p>
            <a:pPr algn="l" marL="782072" indent="-391036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increasing number of students and the complexity of academic regulations make these processes time-consuming and prone to scheduling conflicts as well as imbalanced lecturer workloads.</a:t>
            </a:r>
          </a:p>
          <a:p>
            <a:pPr algn="l" marL="782072" indent="-391036" lvl="1">
              <a:lnSpc>
                <a:spcPts val="5071"/>
              </a:lnSpc>
              <a:buFont typeface="Arial"/>
              <a:buChar char="•"/>
            </a:pPr>
            <a:r>
              <a:rPr lang="en-US" b="true" sz="362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This research develops an Agent-Based System utilizing Large Language Model (LLM) technology to provide automated, objective, and conflict-free recommendations as decision support for the Final Project Coordinator.</a:t>
            </a:r>
          </a:p>
          <a:p>
            <a:pPr algn="l">
              <a:lnSpc>
                <a:spcPts val="507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8411" y="641438"/>
            <a:ext cx="8392193" cy="12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28"/>
              </a:lnSpc>
            </a:pPr>
            <a:r>
              <a:rPr lang="en-US" sz="8600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PROJECT GOALS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28192" y="2263140"/>
            <a:ext cx="16431615" cy="6995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99"/>
              </a:lnSpc>
            </a:pP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Primary Objective: Auto</a:t>
            </a: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mate Final Project administration at the Faculty of Vocational Studies, Institut Teknologi Del, using an LLM-powered agent-based architecture.</a:t>
            </a:r>
          </a:p>
          <a:p>
            <a:pPr algn="l">
              <a:lnSpc>
                <a:spcPts val="5099"/>
              </a:lnSpc>
            </a:pP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</a:t>
            </a: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ey Services: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Generate intelligent, data-dri</a:t>
            </a: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ven recommendations for student grouping, supervisor/examiner assignments, and seminar scheduling.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Provide structured decision-support insights to assist the Final Project Coordinator.</a:t>
            </a:r>
          </a:p>
          <a:p>
            <a:pPr algn="l" marL="734059" indent="-367030" lvl="1">
              <a:lnSpc>
                <a:spcPts val="5099"/>
              </a:lnSpc>
              <a:buFont typeface="Arial"/>
              <a:buChar char="•"/>
            </a:pPr>
            <a:r>
              <a:rPr lang="en-US" b="true" sz="3399" spc="16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Maintain human-in-the-loop control, ensuring all final decisions remain with the Coordinator.</a:t>
            </a:r>
          </a:p>
          <a:p>
            <a:pPr algn="l">
              <a:lnSpc>
                <a:spcPts val="5099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47009" y="1137723"/>
            <a:ext cx="12081751" cy="8909660"/>
          </a:xfrm>
          <a:custGeom>
            <a:avLst/>
            <a:gdLst/>
            <a:ahLst/>
            <a:cxnLst/>
            <a:rect r="r" b="b" t="t" l="l"/>
            <a:pathLst>
              <a:path h="8909660" w="12081751">
                <a:moveTo>
                  <a:pt x="0" y="0"/>
                </a:moveTo>
                <a:lnTo>
                  <a:pt x="12081751" y="0"/>
                </a:lnTo>
                <a:lnTo>
                  <a:pt x="12081751" y="8909660"/>
                </a:lnTo>
                <a:lnTo>
                  <a:pt x="0" y="89096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97793" y="236462"/>
            <a:ext cx="7692413" cy="8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5473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ANALYSIS - USE CASE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097037" y="2029653"/>
            <a:ext cx="10681380" cy="6478748"/>
          </a:xfrm>
          <a:custGeom>
            <a:avLst/>
            <a:gdLst/>
            <a:ahLst/>
            <a:cxnLst/>
            <a:rect r="r" b="b" t="t" l="l"/>
            <a:pathLst>
              <a:path h="6478748" w="10681380">
                <a:moveTo>
                  <a:pt x="0" y="0"/>
                </a:moveTo>
                <a:lnTo>
                  <a:pt x="10681380" y="0"/>
                </a:lnTo>
                <a:lnTo>
                  <a:pt x="10681380" y="6478748"/>
                </a:lnTo>
                <a:lnTo>
                  <a:pt x="0" y="64787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55972" y="622290"/>
            <a:ext cx="10576057" cy="82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3"/>
              </a:lnSpc>
            </a:pPr>
            <a:r>
              <a:rPr lang="en-US" sz="5473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ENTITY RELATIONSHIP DIAGRAM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47122" y="1285455"/>
            <a:ext cx="6635386" cy="8759586"/>
          </a:xfrm>
          <a:custGeom>
            <a:avLst/>
            <a:gdLst/>
            <a:ahLst/>
            <a:cxnLst/>
            <a:rect r="r" b="b" t="t" l="l"/>
            <a:pathLst>
              <a:path h="8759586" w="6635386">
                <a:moveTo>
                  <a:pt x="0" y="0"/>
                </a:moveTo>
                <a:lnTo>
                  <a:pt x="6635386" y="0"/>
                </a:lnTo>
                <a:lnTo>
                  <a:pt x="6635386" y="8759586"/>
                </a:lnTo>
                <a:lnTo>
                  <a:pt x="0" y="8759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800335"/>
            <a:ext cx="8186153" cy="5259603"/>
          </a:xfrm>
          <a:custGeom>
            <a:avLst/>
            <a:gdLst/>
            <a:ahLst/>
            <a:cxnLst/>
            <a:rect r="r" b="b" t="t" l="l"/>
            <a:pathLst>
              <a:path h="5259603" w="8186153">
                <a:moveTo>
                  <a:pt x="0" y="0"/>
                </a:moveTo>
                <a:lnTo>
                  <a:pt x="8186153" y="0"/>
                </a:lnTo>
                <a:lnTo>
                  <a:pt x="8186153" y="5259603"/>
                </a:lnTo>
                <a:lnTo>
                  <a:pt x="0" y="5259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460958" y="226937"/>
            <a:ext cx="10923497" cy="10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6664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BPMN CURRENT SYSTEM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34831" y="1683018"/>
            <a:ext cx="14456438" cy="8095605"/>
          </a:xfrm>
          <a:custGeom>
            <a:avLst/>
            <a:gdLst/>
            <a:ahLst/>
            <a:cxnLst/>
            <a:rect r="r" b="b" t="t" l="l"/>
            <a:pathLst>
              <a:path h="8095605" w="14456438">
                <a:moveTo>
                  <a:pt x="0" y="0"/>
                </a:moveTo>
                <a:lnTo>
                  <a:pt x="14456438" y="0"/>
                </a:lnTo>
                <a:lnTo>
                  <a:pt x="14456438" y="8095606"/>
                </a:lnTo>
                <a:lnTo>
                  <a:pt x="0" y="8095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60958" y="226937"/>
            <a:ext cx="9366085" cy="10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6664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BPMN TARGET SYSTEM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37121" y="3179682"/>
            <a:ext cx="8722179" cy="4524630"/>
          </a:xfrm>
          <a:custGeom>
            <a:avLst/>
            <a:gdLst/>
            <a:ahLst/>
            <a:cxnLst/>
            <a:rect r="r" b="b" t="t" l="l"/>
            <a:pathLst>
              <a:path h="4524630" w="8722179">
                <a:moveTo>
                  <a:pt x="0" y="0"/>
                </a:moveTo>
                <a:lnTo>
                  <a:pt x="8722179" y="0"/>
                </a:lnTo>
                <a:lnTo>
                  <a:pt x="8722179" y="4524630"/>
                </a:lnTo>
                <a:lnTo>
                  <a:pt x="0" y="45246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095273"/>
            <a:ext cx="6693449" cy="6693449"/>
          </a:xfrm>
          <a:custGeom>
            <a:avLst/>
            <a:gdLst/>
            <a:ahLst/>
            <a:cxnLst/>
            <a:rect r="r" b="b" t="t" l="l"/>
            <a:pathLst>
              <a:path h="6693449" w="6693449">
                <a:moveTo>
                  <a:pt x="0" y="0"/>
                </a:moveTo>
                <a:lnTo>
                  <a:pt x="6693449" y="0"/>
                </a:lnTo>
                <a:lnTo>
                  <a:pt x="6693449" y="6693448"/>
                </a:lnTo>
                <a:lnTo>
                  <a:pt x="0" y="66934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07088" y="522268"/>
            <a:ext cx="8673824" cy="10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6664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AGILE METHODOLOGY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620175" y="522268"/>
            <a:ext cx="7047650" cy="10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6664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IMPLEMENTATION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0395" y="2070244"/>
            <a:ext cx="16703320" cy="4669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4618" indent="-312309" lvl="1">
              <a:lnSpc>
                <a:spcPts val="4050"/>
              </a:lnSpc>
              <a:buFont typeface="Arial"/>
              <a:buChar char="•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Integrating the system with OpenAI Large Language Models (LLM) through API services to provide intelligent recommendations and natural language interactions.</a:t>
            </a:r>
          </a:p>
          <a:p>
            <a:pPr algn="l" marL="624618" indent="-312309" lvl="1">
              <a:lnSpc>
                <a:spcPts val="4050"/>
              </a:lnSpc>
              <a:buFont typeface="Arial"/>
              <a:buChar char="•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Applying a multi-storage architecture, consisting of:</a:t>
            </a:r>
          </a:p>
          <a:p>
            <a:pPr algn="l" marL="1249235" indent="-416412" lvl="2">
              <a:lnSpc>
                <a:spcPts val="4050"/>
              </a:lnSpc>
              <a:buFont typeface="Arial"/>
              <a:buChar char="⚬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MySQL as the source of truth for transactional and academic data.</a:t>
            </a:r>
          </a:p>
          <a:p>
            <a:pPr algn="l" marL="1249235" indent="-416412" lvl="2">
              <a:lnSpc>
                <a:spcPts val="4050"/>
              </a:lnSpc>
              <a:buFont typeface="Arial"/>
              <a:buChar char="⚬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Redis as short-term memory and caching storage for agent interactions.</a:t>
            </a:r>
          </a:p>
          <a:p>
            <a:pPr algn="l" marL="1249235" indent="-416412" lvl="2">
              <a:lnSpc>
                <a:spcPts val="4050"/>
              </a:lnSpc>
              <a:buFont typeface="Arial"/>
              <a:buChar char="⚬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MongoDB as long-term memory storage for conversation history, agent reasoning, and contextual information.</a:t>
            </a:r>
          </a:p>
          <a:p>
            <a:pPr algn="l" marL="624618" indent="-312309" lvl="1">
              <a:lnSpc>
                <a:spcPts val="4050"/>
              </a:lnSpc>
              <a:buFont typeface="Arial"/>
              <a:buChar char="•"/>
            </a:pPr>
            <a:r>
              <a:rPr lang="en-US" b="true" sz="2893">
                <a:solidFill>
                  <a:srgbClr val="000000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Implementing a Retrieval-Augmented Generation (RAG) architecture using Project Final Guidelines documents as the primary knowledge source for contextual question answering.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58082" y="2007967"/>
            <a:ext cx="6687599" cy="7250333"/>
          </a:xfrm>
          <a:custGeom>
            <a:avLst/>
            <a:gdLst/>
            <a:ahLst/>
            <a:cxnLst/>
            <a:rect r="r" b="b" t="t" l="l"/>
            <a:pathLst>
              <a:path h="7250333" w="6687599">
                <a:moveTo>
                  <a:pt x="0" y="0"/>
                </a:moveTo>
                <a:lnTo>
                  <a:pt x="6687598" y="0"/>
                </a:lnTo>
                <a:lnTo>
                  <a:pt x="6687598" y="7250333"/>
                </a:lnTo>
                <a:lnTo>
                  <a:pt x="0" y="7250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91" t="-2433" r="-252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51744" y="2202662"/>
            <a:ext cx="8981133" cy="4332076"/>
          </a:xfrm>
          <a:custGeom>
            <a:avLst/>
            <a:gdLst/>
            <a:ahLst/>
            <a:cxnLst/>
            <a:rect r="r" b="b" t="t" l="l"/>
            <a:pathLst>
              <a:path h="4332076" w="8981133">
                <a:moveTo>
                  <a:pt x="0" y="0"/>
                </a:moveTo>
                <a:lnTo>
                  <a:pt x="8981133" y="0"/>
                </a:lnTo>
                <a:lnTo>
                  <a:pt x="8981133" y="4332076"/>
                </a:lnTo>
                <a:lnTo>
                  <a:pt x="0" y="43320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07088" y="522268"/>
            <a:ext cx="8673824" cy="10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0"/>
              </a:lnSpc>
            </a:pPr>
            <a:r>
              <a:rPr lang="en-US" sz="6664" b="true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PRODUCT BACKLOG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8645" y="4499483"/>
            <a:ext cx="10030711" cy="12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8"/>
              </a:lnSpc>
            </a:pPr>
            <a:r>
              <a:rPr lang="en-US" b="true" sz="8600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DEMO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E8E8E8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128645" y="4499483"/>
            <a:ext cx="10030711" cy="12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28"/>
              </a:lnSpc>
            </a:pPr>
            <a:r>
              <a:rPr lang="en-US" b="true" sz="8600">
                <a:solidFill>
                  <a:srgbClr val="0066B8"/>
                </a:solidFill>
                <a:latin typeface="ITC Franklin Gothic LT Semi-Bold"/>
                <a:ea typeface="ITC Franklin Gothic LT Semi-Bold"/>
                <a:cs typeface="ITC Franklin Gothic LT Semi-Bold"/>
                <a:sym typeface="ITC Franklin Gothic LT Semi-Bold"/>
              </a:rPr>
              <a:t>THANKYOU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208089" y="226937"/>
            <a:ext cx="982305" cy="1058519"/>
          </a:xfrm>
          <a:custGeom>
            <a:avLst/>
            <a:gdLst/>
            <a:ahLst/>
            <a:cxnLst/>
            <a:rect r="r" b="b" t="t" l="l"/>
            <a:pathLst>
              <a:path h="1058519" w="982305">
                <a:moveTo>
                  <a:pt x="0" y="0"/>
                </a:moveTo>
                <a:lnTo>
                  <a:pt x="982306" y="0"/>
                </a:lnTo>
                <a:lnTo>
                  <a:pt x="982306" y="1058518"/>
                </a:lnTo>
                <a:lnTo>
                  <a:pt x="0" y="10585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7260" y="298103"/>
            <a:ext cx="1465601" cy="987352"/>
          </a:xfrm>
          <a:custGeom>
            <a:avLst/>
            <a:gdLst/>
            <a:ahLst/>
            <a:cxnLst/>
            <a:rect r="r" b="b" t="t" l="l"/>
            <a:pathLst>
              <a:path h="987352" w="1465601">
                <a:moveTo>
                  <a:pt x="0" y="0"/>
                </a:moveTo>
                <a:lnTo>
                  <a:pt x="1465602" y="0"/>
                </a:lnTo>
                <a:lnTo>
                  <a:pt x="1465602" y="987352"/>
                </a:lnTo>
                <a:lnTo>
                  <a:pt x="0" y="987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DAHMr9dYlPQ</dc:identifier>
  <dcterms:modified xsi:type="dcterms:W3CDTF">2011-08-01T06:04:30Z</dcterms:modified>
  <cp:revision>1</cp:revision>
  <dc:title>Kel07_11423007_11423008_11423018_11423029_11423050</dc:title>
</cp:coreProperties>
</file>